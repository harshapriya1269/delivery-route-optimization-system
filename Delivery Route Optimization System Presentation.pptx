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Inter SemiBold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  <p:embeddedFont>
      <p:font typeface="Inter Medium"/>
      <p:regular r:id="rId40"/>
      <p:bold r:id="rId41"/>
      <p:italic r:id="rId42"/>
      <p:boldItalic r:id="rId43"/>
    </p:embeddedFont>
    <p:embeddedFont>
      <p:font typeface="JetBrains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29A791-C53A-400D-889D-EF744AEBE2AA}">
  <a:tblStyle styleId="{A129A791-C53A-400D-889D-EF744AEBE2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regular.fntdata"/><Relationship Id="rId20" Type="http://schemas.openxmlformats.org/officeDocument/2006/relationships/slide" Target="slides/slide14.xml"/><Relationship Id="rId42" Type="http://schemas.openxmlformats.org/officeDocument/2006/relationships/font" Target="fonts/InterMedium-italic.fntdata"/><Relationship Id="rId41" Type="http://schemas.openxmlformats.org/officeDocument/2006/relationships/font" Target="fonts/InterMedium-bold.fntdata"/><Relationship Id="rId22" Type="http://schemas.openxmlformats.org/officeDocument/2006/relationships/slide" Target="slides/slide16.xml"/><Relationship Id="rId44" Type="http://schemas.openxmlformats.org/officeDocument/2006/relationships/font" Target="fonts/JetBrainsMono-regular.fntdata"/><Relationship Id="rId21" Type="http://schemas.openxmlformats.org/officeDocument/2006/relationships/slide" Target="slides/slide15.xml"/><Relationship Id="rId43" Type="http://schemas.openxmlformats.org/officeDocument/2006/relationships/font" Target="fonts/InterMedium-boldItalic.fntdata"/><Relationship Id="rId24" Type="http://schemas.openxmlformats.org/officeDocument/2006/relationships/font" Target="fonts/InterSemiBold-regular.fntdata"/><Relationship Id="rId46" Type="http://schemas.openxmlformats.org/officeDocument/2006/relationships/font" Target="fonts/JetBrainsMono-italic.fntdata"/><Relationship Id="rId23" Type="http://schemas.openxmlformats.org/officeDocument/2006/relationships/slide" Target="slides/slide17.xml"/><Relationship Id="rId45" Type="http://schemas.openxmlformats.org/officeDocument/2006/relationships/font" Target="fonts/JetBrains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47" Type="http://schemas.openxmlformats.org/officeDocument/2006/relationships/font" Target="fonts/JetBrainsMono-boldItalic.fntdata"/><Relationship Id="rId28" Type="http://schemas.openxmlformats.org/officeDocument/2006/relationships/font" Target="fonts/Poppins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14.png"/><Relationship Id="rId10" Type="http://schemas.openxmlformats.org/officeDocument/2006/relationships/image" Target="../media/image30.png"/><Relationship Id="rId21" Type="http://schemas.openxmlformats.org/officeDocument/2006/relationships/image" Target="../media/image25.png"/><Relationship Id="rId13" Type="http://schemas.openxmlformats.org/officeDocument/2006/relationships/image" Target="../media/image4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5" Type="http://schemas.openxmlformats.org/officeDocument/2006/relationships/image" Target="../media/image19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15.png"/><Relationship Id="rId5" Type="http://schemas.openxmlformats.org/officeDocument/2006/relationships/image" Target="../media/image10.png"/><Relationship Id="rId19" Type="http://schemas.openxmlformats.org/officeDocument/2006/relationships/image" Target="../media/image48.png"/><Relationship Id="rId6" Type="http://schemas.openxmlformats.org/officeDocument/2006/relationships/image" Target="../media/image3.png"/><Relationship Id="rId18" Type="http://schemas.openxmlformats.org/officeDocument/2006/relationships/image" Target="../media/image34.png"/><Relationship Id="rId7" Type="http://schemas.openxmlformats.org/officeDocument/2006/relationships/image" Target="../media/image16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5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40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Relationship Id="rId5" Type="http://schemas.openxmlformats.org/officeDocument/2006/relationships/image" Target="../media/image44.png"/><Relationship Id="rId6" Type="http://schemas.openxmlformats.org/officeDocument/2006/relationships/image" Target="../media/image47.png"/><Relationship Id="rId7" Type="http://schemas.openxmlformats.org/officeDocument/2006/relationships/image" Target="../media/image80.png"/><Relationship Id="rId8" Type="http://schemas.openxmlformats.org/officeDocument/2006/relationships/image" Target="../media/image7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1.png"/><Relationship Id="rId5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43.png"/><Relationship Id="rId6" Type="http://schemas.openxmlformats.org/officeDocument/2006/relationships/image" Target="../media/image62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5.png"/><Relationship Id="rId13" Type="http://schemas.openxmlformats.org/officeDocument/2006/relationships/image" Target="../media/image58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9" Type="http://schemas.openxmlformats.org/officeDocument/2006/relationships/image" Target="../media/image76.png"/><Relationship Id="rId15" Type="http://schemas.openxmlformats.org/officeDocument/2006/relationships/image" Target="../media/image59.png"/><Relationship Id="rId14" Type="http://schemas.openxmlformats.org/officeDocument/2006/relationships/image" Target="../media/image71.png"/><Relationship Id="rId5" Type="http://schemas.openxmlformats.org/officeDocument/2006/relationships/image" Target="../media/image79.png"/><Relationship Id="rId6" Type="http://schemas.openxmlformats.org/officeDocument/2006/relationships/image" Target="../media/image57.png"/><Relationship Id="rId7" Type="http://schemas.openxmlformats.org/officeDocument/2006/relationships/image" Target="../media/image72.png"/><Relationship Id="rId8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73.png"/><Relationship Id="rId7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4.png"/><Relationship Id="rId5" Type="http://schemas.openxmlformats.org/officeDocument/2006/relationships/image" Target="../media/image77.png"/><Relationship Id="rId6" Type="http://schemas.openxmlformats.org/officeDocument/2006/relationships/image" Target="../media/image6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203126"/>
            <a:ext cx="1428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67137"/>
            <a:ext cx="8096250" cy="1887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0275" y="4830067"/>
            <a:ext cx="7315200" cy="5866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809750" y="1698426"/>
            <a:ext cx="9001125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DELIVERY ROUTE OPTIMIZATION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SYSTEM USING GRAPH ALGORITHMS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2932807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implementation of advanced network pathfinding to streamline logistics, reduce operational costs, and minimize transit times in real-world shipping routes.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00275" y="4005262"/>
            <a:ext cx="3562350" cy="6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Submitted By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T. Vinitha (Roll No: 23AK1A3256)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S. Harsha Priya (Roll No: 23AK1A3214)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953125" y="4005262"/>
            <a:ext cx="3562350" cy="6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Department &amp; Academic Year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B.Tech CSE (Data Science) | 2025-2026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200275" y="4982467"/>
            <a:ext cx="7315200" cy="16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INSTITUTION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200275" y="518814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Annamacharya Institute of Technology and Sciences, Tirupati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295400"/>
            <a:ext cx="5238750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95400"/>
            <a:ext cx="5238750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09650" y="3230016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Core Mechanism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9650" y="3715791"/>
            <a:ext cx="4552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Delivery Route Optimization System employs Graph Algorithms to systematically identify the shortest, most resource-efficient delivery routes between network locations.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3108126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Core Efficiency Metrics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29400" y="3593901"/>
            <a:ext cx="45529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determining mathematically optimal routing sequences in any connected network structure, the application works to actively minimize overall transit times, carbon footprint, and systemic fuel costs.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Abstract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02 / 15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2023467"/>
            <a:ext cx="5286375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Introduction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03 / 15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2509242"/>
            <a:ext cx="76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2823567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Route optimization serves as a foundational pillar in modern logistics and fleet management paradigms using GPS real-time capabilities.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493889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Implementing reliable graph algorithms empowers logistics networks to identify the absolute shortest pathways between nodes dynamically.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164210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project illustrates a robust and practical bridge between classical graph theory principles and operational delivery management challenges.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49103"/>
            <a:ext cx="5238750" cy="297894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666750" y="2814935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Logistics Challenge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66750" y="3376910"/>
            <a:ext cx="523875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Worldwide delivery companies often face challenges in selecting efficient routes. Without algorithmic orchestration, route planning relies on guesswork, resulting in severe inefficiencies.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6750" y="4344292"/>
            <a:ext cx="52387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absence of route optimization leaves organizations vulnerable to fluctuating supply chain obstacles and spiraling fuel overheads.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962775" y="2739628"/>
            <a:ext cx="43805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Identified Cost Pain-points: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278725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981825" y="3215878"/>
            <a:ext cx="415290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Increased travel time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981825" y="3646289"/>
            <a:ext cx="415290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Higher fuel consumption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81825" y="4076700"/>
            <a:ext cx="415290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Increased operational costs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81825" y="4507110"/>
            <a:ext cx="415290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Delayed deliveries and low user satisfaction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04 / 15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234928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665339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095750"/>
            <a:ext cx="171450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526160"/>
            <a:ext cx="171450" cy="27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520428"/>
            <a:ext cx="3467100" cy="210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2450" y="1520428"/>
            <a:ext cx="3467100" cy="210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8150" y="1520428"/>
            <a:ext cx="3467100" cy="210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3849290"/>
            <a:ext cx="3467100" cy="2307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2450" y="3849290"/>
            <a:ext cx="3467100" cy="2307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849290"/>
            <a:ext cx="3467100" cy="2307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4875" y="181570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904875" y="2482453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Path Minimization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04875" y="2911078"/>
            <a:ext cx="299085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Find the shortest delivery routes dynamically across complex, multi-node networks.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00575" y="181570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4600575" y="2482453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Fuel Conservation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00575" y="2911078"/>
            <a:ext cx="299085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 vehicle fuel consumption and carbon output through optimal trip sequences.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96275" y="1815703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296275" y="2482453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Optimization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296275" y="2911078"/>
            <a:ext cx="299085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Minimize delivery time and improve operational turnaround on individual tasks.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4875" y="414456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04875" y="4811315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Transportation Efficiency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04875" y="5239940"/>
            <a:ext cx="299085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Improve overall transportation efficiency and maximize logistical service coverage.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00575" y="414456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4600575" y="4811315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Practical Algorithmics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600575" y="5239940"/>
            <a:ext cx="299085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graph algorithms to solve real-world problems and logistical supply constraints.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96275" y="414456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8296275" y="4811315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Stable Deployment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296275" y="5239940"/>
            <a:ext cx="29908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Construct a system capable of recalculating paths quickly as destinations dynamically shift.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52512" y="19633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48212" y="19633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443912" y="19633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52512" y="42922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748212" y="42922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443912" y="429220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Objectives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05 / 15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18"/>
          <p:cNvGraphicFramePr/>
          <p:nvPr/>
        </p:nvGraphicFramePr>
        <p:xfrm>
          <a:off x="666750" y="2299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{A129A791-C53A-400D-889D-EF744AEBE2AA}</a:tableStyleId>
              </a:tblPr>
              <a:tblGrid>
                <a:gridCol w="2709850"/>
                <a:gridCol w="2167825"/>
                <a:gridCol w="5961750"/>
              </a:tblGrid>
              <a:tr h="76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Specific Purpose &amp; Deployment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6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Python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Programming Language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Used as the core development language for its rapid prototyping capabilities and simple data syntax.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Graph Algorithms</a:t>
                      </a:r>
                      <a:endParaRPr/>
                    </a:p>
                  </a:txBody>
                  <a:tcPr marT="25400" marB="25400" marR="63500" marL="27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Mathematical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Provides the path computation core (Dijkstra's Algorithm) designed for network vertex parsing.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GitHub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Hosts project source files, regulates software versioning, and acts as the central repository.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6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VS Code</a:t>
                      </a:r>
                      <a:endParaRPr/>
                    </a:p>
                  </a:txBody>
                  <a:tcPr marT="25400" marB="25400" marR="63500" marL="29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Development Environment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central development editor environment for building, debugging, and testing script codes.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8"/>
          <p:cNvSpPr txBox="1"/>
          <p:nvPr/>
        </p:nvSpPr>
        <p:spPr>
          <a:xfrm>
            <a:off x="666750" y="1543198"/>
            <a:ext cx="108585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lightweight, highly portable modern development stack was utilized to guarantee optimized algorithm execution speed, clean version control, and extensible UI capability.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676275" y="3695551"/>
            <a:ext cx="2709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3386137" y="3695551"/>
            <a:ext cx="2167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553967" y="3695551"/>
            <a:ext cx="59617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76275" y="4505176"/>
            <a:ext cx="2709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386137" y="4505176"/>
            <a:ext cx="2167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553967" y="4505176"/>
            <a:ext cx="59617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76275" y="5314801"/>
            <a:ext cx="2709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3386137" y="5314801"/>
            <a:ext cx="2167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5553967" y="5314801"/>
            <a:ext cx="59617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4028926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5648176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4737" y="251832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3219301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4028926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483855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5648176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Technologies Used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06 / 15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71500" y="1918692"/>
            <a:ext cx="5286375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Dijkstra's Algorithm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07 / 15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71500" y="2404467"/>
            <a:ext cx="76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71500" y="2718792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provably optimal approach to single-source shortest path calculation on weighted graphs, integrated directly with GPS trackers.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76300" y="3389114"/>
            <a:ext cx="4981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Finds the shortest path between nodes.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76300" y="3819525"/>
            <a:ext cx="49815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Calculates minimum distance from source to all other nodes.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76300" y="4249935"/>
            <a:ext cx="49815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Efficient for route optimization and widely used in navigation systems.</a:t>
            </a:r>
            <a:endParaRPr/>
          </a:p>
        </p:txBody>
      </p:sp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89114"/>
            <a:ext cx="114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9525"/>
            <a:ext cx="114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9935"/>
            <a:ext cx="1143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4392" y="3646140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0415" y="3646140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6437" y="3646140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12459" y="3646140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38482" y="364614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666750" y="2461468"/>
            <a:ext cx="108585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pipeline translates physical coordinates into logical graphs, processes them using Dijkstra's algorithm, and generates actionable, optimized delivery instructions.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1209675" y="4221360"/>
            <a:ext cx="97726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915292" y="4417665"/>
            <a:ext cx="1457325" cy="417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(Define Map Nodes)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3122265" y="4417665"/>
            <a:ext cx="1495425" cy="417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Graph Representation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(Edge-Vertex Matrix)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434012" y="4417665"/>
            <a:ext cx="1323975" cy="417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Dijkstra's Algorithm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(Distance Solver)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7483822" y="4417665"/>
            <a:ext cx="1676400" cy="417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Shortest Path Calculation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(Route Selection)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714607" y="4417665"/>
            <a:ext cx="1666875" cy="417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Optimized Delivery Route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(Fleet Deployment)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Architecture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08 / 15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729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38325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1847850"/>
            <a:ext cx="45339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6286500" y="2112168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Step-by-Step System Execution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591300" y="2636043"/>
            <a:ext cx="493395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Delivery locations are represented as nodes.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591300" y="3066454"/>
            <a:ext cx="493395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Edges: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Roads and distances are represented as edges.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591300" y="3496865"/>
            <a:ext cx="49339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Search Engine: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Dijkstra's Algorithm is applied to find the shortest path.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591300" y="4186237"/>
            <a:ext cx="49339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Calculation: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system calculates the minimum distance from the source to all other locations.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591300" y="4875609"/>
            <a:ext cx="493395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Resource Optimization: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optimized route helps in reducing travel time and delivery cost.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66750" y="467345"/>
            <a:ext cx="1085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Working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09 / 15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636043"/>
            <a:ext cx="114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66454"/>
            <a:ext cx="114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496865"/>
            <a:ext cx="114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186237"/>
            <a:ext cx="114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875609"/>
            <a:ext cx="1143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1100" y="1723650"/>
            <a:ext cx="5319351" cy="431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42405"/>
            <a:ext cx="5238750" cy="2992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782466"/>
            <a:ext cx="2252662" cy="822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62" y="3782466"/>
            <a:ext cx="2252662" cy="82272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1771650" y="4795688"/>
            <a:ext cx="3838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 Star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0 Forks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 Watching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286500" y="2998589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Open Source Structure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286500" y="3560564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repository acts as a persistent central file space to support future updates and multi-developer environment deployment.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286500" y="4191000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public setup ensures deployment transparency, standard tracking of project deliverables, and simple documentation storage.</a:t>
            </a:r>
            <a:endParaRPr/>
          </a:p>
        </p:txBody>
      </p:sp>
      <p:pic>
        <p:nvPicPr>
          <p:cNvPr descr="image.png" id="268" name="Google Shape;26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724298"/>
            <a:ext cx="2762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1381125" y="2637680"/>
            <a:ext cx="3467100" cy="458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Public Repository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962025" y="3439566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Repository Components: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1294450" y="2381780"/>
            <a:ext cx="364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tvinitha / Delivery-Route-Optimization</a:t>
            </a:r>
            <a:endParaRPr/>
          </a:p>
        </p:txBody>
      </p:sp>
      <p:pic>
        <p:nvPicPr>
          <p:cNvPr descr="image.png" id="272" name="Google Shape;27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833788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71650" y="483378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76525" y="4833788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1133475" y="4125366"/>
            <a:ext cx="1909762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Core algorithm and network structures.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3529012" y="4125366"/>
            <a:ext cx="1909762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Markdown instruction files and project intro.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GitHub Repository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10 / 15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28825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666750" y="2927151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User-Focused Documentation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66750" y="3489126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README.md file in the project's root folder acts as the central handbook for setup, dependency listing, and execution steps.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66750" y="4119562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well-organized readme structure reduces barrier to entry, permitting external developers to deploy and run the system locally instantly.</a:t>
            </a:r>
            <a:endParaRPr/>
          </a:p>
        </p:txBody>
      </p:sp>
      <p:pic>
        <p:nvPicPr>
          <p:cNvPr descr="image.png" id="288" name="Google Shape;28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2410717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6943725" y="2324100"/>
            <a:ext cx="1285875" cy="458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Guide Overview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581775" y="3125985"/>
            <a:ext cx="4880610" cy="3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# Delivery-Route-Optimization-System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581775" y="3510706"/>
            <a:ext cx="464820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system using Dijkstra's algorithm to resolve delivery operations constraints.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581775" y="4036367"/>
            <a:ext cx="48806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## Core Objectives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943725" y="2324100"/>
            <a:ext cx="135016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README.md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6686550" y="4367837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772275" y="4369742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Map out weighted delivery networks dynamically.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686550" y="4611618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772275" y="4613523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Minimize vehicle times and logistics fuel overheads.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Readme Documentation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11 / 15</a:t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08857"/>
            <a:ext cx="5238750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1818382"/>
            <a:ext cx="5219700" cy="42088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904875" y="2429767"/>
            <a:ext cx="4762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12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Delivery Route Optimization using Dijkstra's Algorithm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graph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'E'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'E'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'F'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'E'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'F'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'F'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{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12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'E'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12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dijkstra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graph, start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distances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{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node: float('inf') for node in graph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distances[start]</a:t>
            </a: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b="0" i="0" lang="en-US" sz="1012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12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  </a:t>
            </a:r>
            <a:r>
              <a:rPr b="0" i="1" lang="en-US" sz="1012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... node evaluation queue logic ...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286500" y="2998589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Algorithmic Translation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286500" y="3560564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code map captures connections between key vertices (A, B, C, D, E, F) and their respective node edge weights representing distance.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286500" y="4191000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logical graph forms the algorithmic foundation for our routing engine, providing stable structural values for automated calculations.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5267325" y="1932682"/>
            <a:ext cx="43815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main.py</a:t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866775" y="1976437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1019175" y="1976437"/>
            <a:ext cx="95250" cy="9525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1171575" y="1976437"/>
            <a:ext cx="95250" cy="952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Code (main.py)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12 / 15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34964"/>
            <a:ext cx="5238750" cy="3007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2344489"/>
            <a:ext cx="5219700" cy="420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2765375"/>
            <a:ext cx="5219700" cy="256713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 txBox="1"/>
          <p:nvPr/>
        </p:nvSpPr>
        <p:spPr>
          <a:xfrm>
            <a:off x="6286500" y="2876698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Verification of Success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6286500" y="3438673"/>
            <a:ext cx="5238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execution logs confirm that Dijkstra's algorithm successfully resolved the minimal route cost values from origin station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'A'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all terminal destinations.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6286500" y="4312890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verifies our routing engine's core precision, guaranteeing maximum efficiency across fleet shipping tasks.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4514850" y="2458789"/>
            <a:ext cx="119062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Inter Medium"/>
                <a:ea typeface="Inter Medium"/>
                <a:cs typeface="Inter Medium"/>
                <a:sym typeface="Inter Medium"/>
              </a:rPr>
              <a:t>cmd.exe / PowerShell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904875" y="2955875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 C:\Users\tvinitha_harsapriya&gt; python main.py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904875" y="3283446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Delivery Route Optimization System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904875" y="3572916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Shortest distances from source node 'A':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904875" y="3862387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: 0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904875" y="4075658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: 3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(via Path A -&gt; C -&gt; B)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904875" y="4288928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: 2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(via Path A -&gt; C)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904875" y="4502199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: 8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(via Path A -&gt; C -&gt; B -&gt; D)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904875" y="4715470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: 10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(via Path A -&gt; C -&gt; B -&gt; D -&gt; E)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904875" y="4928741"/>
            <a:ext cx="476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 : 13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(via Path A -&gt; C -&gt; B -&gt; D -&gt; E -&gt; F)</a:t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866775" y="2502544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1019175" y="2502544"/>
            <a:ext cx="95250" cy="9525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1171575" y="2502544"/>
            <a:ext cx="95250" cy="952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Program Output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13 / 15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983110"/>
            <a:ext cx="25431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8525" y="2983110"/>
            <a:ext cx="25431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0300" y="2983110"/>
            <a:ext cx="25431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82075" y="2983110"/>
            <a:ext cx="254317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 txBox="1"/>
          <p:nvPr/>
        </p:nvSpPr>
        <p:spPr>
          <a:xfrm>
            <a:off x="666750" y="2179439"/>
            <a:ext cx="108585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system successfully demonstrates how applying programmatic network graphs and algorithmic rules resolves persistent routing pain points in real-world shipping networks.</a:t>
            </a:r>
            <a:endParaRPr/>
          </a:p>
        </p:txBody>
      </p:sp>
      <p:pic>
        <p:nvPicPr>
          <p:cNvPr descr="image.png" id="353" name="Google Shape;35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327838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/>
        </p:nvSpPr>
        <p:spPr>
          <a:xfrm>
            <a:off x="904875" y="3945135"/>
            <a:ext cx="21702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Implementation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904875" y="4373760"/>
            <a:ext cx="206692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Designed and built a reliable, modular Delivery Route Optimization System using Python.</a:t>
            </a:r>
            <a:endParaRPr/>
          </a:p>
        </p:txBody>
      </p:sp>
      <p:pic>
        <p:nvPicPr>
          <p:cNvPr descr="image.png" id="356" name="Google Shape;35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76650" y="327838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6"/>
          <p:cNvSpPr txBox="1"/>
          <p:nvPr/>
        </p:nvSpPr>
        <p:spPr>
          <a:xfrm>
            <a:off x="3676650" y="3945135"/>
            <a:ext cx="21702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Dijkstra Pathfinding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3676650" y="4373760"/>
            <a:ext cx="2066925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Applied Dijkstra's Algorithm successfully to find optimal routes from the source.</a:t>
            </a:r>
            <a:endParaRPr/>
          </a:p>
        </p:txBody>
      </p:sp>
      <p:pic>
        <p:nvPicPr>
          <p:cNvPr descr="image.png" id="359" name="Google Shape;35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27838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 txBox="1"/>
          <p:nvPr/>
        </p:nvSpPr>
        <p:spPr>
          <a:xfrm>
            <a:off x="6448425" y="3945135"/>
            <a:ext cx="21702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Efficiency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6448425" y="4373760"/>
            <a:ext cx="2066925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Reduced travel distance, lowered fuel consumption, and improved fleet turnaround.</a:t>
            </a:r>
            <a:endParaRPr/>
          </a:p>
        </p:txBody>
      </p:sp>
      <p:pic>
        <p:nvPicPr>
          <p:cNvPr descr="image.png" id="362" name="Google Shape;362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20200" y="327838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 txBox="1"/>
          <p:nvPr/>
        </p:nvSpPr>
        <p:spPr>
          <a:xfrm>
            <a:off x="9220200" y="3945135"/>
            <a:ext cx="21702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Logistical Utility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9220200" y="4373760"/>
            <a:ext cx="2066925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Demonstrated practical use of graph algorithms in logistical planning and transportation.</a:t>
            </a:r>
            <a:endParaRPr/>
          </a:p>
        </p:txBody>
      </p:sp>
      <p:pic>
        <p:nvPicPr>
          <p:cNvPr descr="image.png" id="365" name="Google Shape;365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2512" y="34260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38575" y="342602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24637" y="342602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339262" y="342602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 txBox="1"/>
          <p:nvPr/>
        </p:nvSpPr>
        <p:spPr>
          <a:xfrm>
            <a:off x="666750" y="4762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 </a:t>
            </a:r>
            <a:r>
              <a:rPr b="0" i="0" lang="en-US" sz="25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14 / 15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66750" y="98107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075" y="3597622"/>
            <a:ext cx="6419850" cy="2062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6600" y="5056584"/>
            <a:ext cx="5638800" cy="365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0" y="119747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7"/>
          <p:cNvSpPr txBox="1"/>
          <p:nvPr/>
        </p:nvSpPr>
        <p:spPr>
          <a:xfrm>
            <a:off x="2725578" y="2245221"/>
            <a:ext cx="674084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2886075" y="3037582"/>
            <a:ext cx="6419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Your attention during this optimization system showcase is highly appreciated.</a:t>
            </a:r>
            <a:endParaRPr/>
          </a:p>
        </p:txBody>
      </p:sp>
      <p:pic>
        <p:nvPicPr>
          <p:cNvPr descr="image.png" id="381" name="Google Shape;38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1687" y="140702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7"/>
          <p:cNvSpPr txBox="1"/>
          <p:nvPr/>
        </p:nvSpPr>
        <p:spPr>
          <a:xfrm>
            <a:off x="3276600" y="3835747"/>
            <a:ext cx="5638800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Presenter Details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T. Vinitha (Roll No: 23AK1A3256)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S. Harsha Priya (Roll No: 23AK1A3214)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B.Tech CSE (Data Science)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4176712" y="5228034"/>
            <a:ext cx="3838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Annamacharya Institute of Technology and Sciences, Tirupati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8"/>
          <p:cNvSpPr/>
          <p:nvPr/>
        </p:nvSpPr>
        <p:spPr>
          <a:xfrm>
            <a:off x="666750" y="2713732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666750" y="3498502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666750" y="3488977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666750" y="3488977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666750" y="4273748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666750" y="4273748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5" name="Google Shape;39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8631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8"/>
          <p:cNvSpPr txBox="1"/>
          <p:nvPr/>
        </p:nvSpPr>
        <p:spPr>
          <a:xfrm>
            <a:off x="1762125" y="2856607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http://googleusercontent.com/image_collection/image_retrieval/8551149490922397947_0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1762125" y="3102322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Clean modern GPS route optimization delivery vector illustration concept</a:t>
            </a:r>
            <a:endParaRPr/>
          </a:p>
        </p:txBody>
      </p:sp>
      <p:pic>
        <p:nvPicPr>
          <p:cNvPr descr="image.png" id="398" name="Google Shape;39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479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8"/>
          <p:cNvSpPr txBox="1"/>
          <p:nvPr/>
        </p:nvSpPr>
        <p:spPr>
          <a:xfrm>
            <a:off x="1762125" y="3641377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http://googleusercontent.com/image_collection/image_retrieval/14723071034878525065_0</a:t>
            </a:r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1762125" y="3887092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Dijkstra algorithm shortest path simple graph diagram</a:t>
            </a:r>
            <a:endParaRPr/>
          </a:p>
        </p:txBody>
      </p:sp>
      <p:pic>
        <p:nvPicPr>
          <p:cNvPr descr="image.png" id="401" name="Google Shape;40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432696"/>
            <a:ext cx="857250" cy="112752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8"/>
          <p:cNvSpPr txBox="1"/>
          <p:nvPr/>
        </p:nvSpPr>
        <p:spPr>
          <a:xfrm>
            <a:off x="1762125" y="4426148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http://googleusercontent.com/image_collection/image_retrieval/2169882664889755633_0</a:t>
            </a:r>
            <a:endParaRPr/>
          </a:p>
        </p:txBody>
      </p:sp>
      <p:sp>
        <p:nvSpPr>
          <p:cNvPr id="403" name="Google Shape;403;p28"/>
          <p:cNvSpPr txBox="1"/>
          <p:nvPr/>
        </p:nvSpPr>
        <p:spPr>
          <a:xfrm>
            <a:off x="1762125" y="4671863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Simple delivery route optimization map flat vector illustration</a:t>
            </a:r>
            <a:endParaRPr/>
          </a:p>
        </p:txBody>
      </p:sp>
      <p:sp>
        <p:nvSpPr>
          <p:cNvPr id="404" name="Google Shape;404;p28"/>
          <p:cNvSpPr txBox="1"/>
          <p:nvPr/>
        </p:nvSpPr>
        <p:spPr>
          <a:xfrm>
            <a:off x="666750" y="47625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405" name="Google Shape;405;p28"/>
          <p:cNvSpPr/>
          <p:nvPr/>
        </p:nvSpPr>
        <p:spPr>
          <a:xfrm>
            <a:off x="666750" y="107632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"/>
          <p:cNvSpPr/>
          <p:nvPr/>
        </p:nvSpPr>
        <p:spPr>
          <a:xfrm>
            <a:off x="666750" y="2515641"/>
            <a:ext cx="108585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666750" y="3498502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666750" y="3488977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66750" y="3488977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666750" y="4273748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666750" y="4273748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6" name="Google Shape;4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764184"/>
            <a:ext cx="1390650" cy="48756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9"/>
          <p:cNvSpPr txBox="1"/>
          <p:nvPr/>
        </p:nvSpPr>
        <p:spPr>
          <a:xfrm>
            <a:off x="1762125" y="2658516"/>
            <a:ext cx="9763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https://img.magnific.com/premium-vector/delivery-truck-with-gps-map-location-pins-vector-illustration-order-tracking-concept-design_929545-1092.jpg?semt=ais_hybrid&amp;w=740&amp;q=80</a:t>
            </a:r>
            <a:endParaRPr/>
          </a:p>
        </p:txBody>
      </p:sp>
      <p:sp>
        <p:nvSpPr>
          <p:cNvPr id="418" name="Google Shape;418;p29"/>
          <p:cNvSpPr txBox="1"/>
          <p:nvPr/>
        </p:nvSpPr>
        <p:spPr>
          <a:xfrm>
            <a:off x="1762125" y="3102322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pic>
        <p:nvPicPr>
          <p:cNvPr descr="image.png" id="419" name="Google Shape;4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6479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9"/>
          <p:cNvSpPr txBox="1"/>
          <p:nvPr/>
        </p:nvSpPr>
        <p:spPr>
          <a:xfrm>
            <a:off x="1762125" y="3641377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http://rkpandey.com/AlgorithmHelper/assets/dijkstra1.png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1762125" y="3887092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rkpandey.com</a:t>
            </a:r>
            <a:endParaRPr/>
          </a:p>
        </p:txBody>
      </p:sp>
      <p:pic>
        <p:nvPicPr>
          <p:cNvPr descr="image.png" id="422" name="Google Shape;42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4531816"/>
            <a:ext cx="1409700" cy="48756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9"/>
          <p:cNvSpPr txBox="1"/>
          <p:nvPr/>
        </p:nvSpPr>
        <p:spPr>
          <a:xfrm>
            <a:off x="1762125" y="4426148"/>
            <a:ext cx="9763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https://static.vecteezy.com/system/resources/previews/073/601/614/non_2x/map-navigation-2d-onboarding-ui-illustration-gps-geolocation-planning-route-tracking-delivery-isometric-mapping-with-location-pins-cartoon-concept-isolated-on-white-flat-abstract-metaphor-vector.jpg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1762125" y="4869953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666750" y="47625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666750" y="1076325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